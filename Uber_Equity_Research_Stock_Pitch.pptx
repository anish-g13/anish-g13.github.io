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5852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3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EQUITY RESEARCH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698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2587752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and investment outlook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22376" y="3328416"/>
            <a:ext cx="10762488" cy="0"/>
          </a:xfrm>
          <a:prstGeom prst="line">
            <a:avLst/>
          </a:prstGeom>
          <a:noFill/>
          <a:ln w="25400">
            <a:solidFill>
              <a:srgbClr val="2236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3685032"/>
            <a:ext cx="3246120" cy="1234440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38770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PRICE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5256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$67.62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133088" y="3685032"/>
            <a:ext cx="3246120" cy="1234440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8770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INTRINSIC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25112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$77.02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543800" y="3685032"/>
            <a:ext cx="3246120" cy="1234440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38770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UPSIDE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35824" y="4160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+13.9%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13232" y="5257800"/>
            <a:ext cx="3273552" cy="329184"/>
          </a:xfrm>
          <a:prstGeom prst="rect">
            <a:avLst/>
          </a:prstGeom>
          <a:solidFill>
            <a:srgbClr val="F3BC55"/>
          </a:solidFill>
          <a:ln w="5080">
            <a:solidFill>
              <a:srgbClr val="F3BC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527608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WATCHLIST / NEUTRAL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61447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of October 21, 2026 close. Published October 22,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growth outpaces reported revenue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82496"/>
            <a:ext cx="3493008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745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gross bookings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215798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$193.5B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50392" y="2761488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+19% year over 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52544" y="1682496"/>
            <a:ext cx="3493008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8745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GAAP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4568" y="215798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$52.0B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44568" y="2761488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GAAP accounting basis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46720" y="1682496"/>
            <a:ext cx="3493008" cy="141732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8745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reported FCF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38744" y="215798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$9.76B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238744" y="2761488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FCF differs from unlevered DCF cash 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3410712"/>
            <a:ext cx="10881360" cy="231343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62102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2026 YoY performance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16966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BOOKINGS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489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+24%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3593592" y="416966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489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+12%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6272784" y="416966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ADJ. EBITDA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4489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+33%</a:t>
            </a:r>
            <a:endParaRPr lang="en-US" sz="2900" dirty="0"/>
          </a:p>
        </p:txBody>
      </p:sp>
      <p:sp>
        <p:nvSpPr>
          <p:cNvPr id="27" name="Text 25"/>
          <p:cNvSpPr/>
          <p:nvPr/>
        </p:nvSpPr>
        <p:spPr>
          <a:xfrm>
            <a:off x="8951976" y="4169664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51976" y="4489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+18%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Mobility business-model changes affected reported revenue growth (~$1.1B quarterly effect). Sources: Uber 2025 10-K and Q2 2026 results.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thesis and risks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223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09928"/>
            <a:ext cx="5303520" cy="2862072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92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  /  NETWORK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493776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combines a large customer base and driver network with dense delivery coverage and frequent consumer use. Strong bookings and operating leverage could let free cash flow grow faster than revenue.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709928"/>
            <a:ext cx="5340096" cy="2862072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92808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DOWNSIDE  /  MARKETPLACE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64224" y="2331720"/>
            <a:ext cx="497433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fleets could bypass Uber. Insurance costs, driver economics, regulation and autonomy spending could limit margin gains. Acquisitions could increase leverage.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818888"/>
            <a:ext cx="10863072" cy="996696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74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QUESTION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43784" y="4910328"/>
            <a:ext cx="8266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future cash flow support a value above $67.62 per share?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depends on the growth, margin and risk assumptions in the model.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operating forecast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55064"/>
            <a:ext cx="10826496" cy="3108960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5770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4662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4108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35540" y="1837944"/>
            <a:ext cx="13944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340864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bookings ($B)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193.5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5770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267.0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4662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304.4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4108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341.0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35540" y="2340864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375.1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" y="2816352"/>
            <a:ext cx="10332720" cy="0"/>
          </a:xfrm>
          <a:prstGeom prst="line">
            <a:avLst/>
          </a:prstGeom>
          <a:noFill/>
          <a:ln w="7620">
            <a:solidFill>
              <a:srgbClr val="D7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008376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GAAP revenue ($B)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52.0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770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67.3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4662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77.0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4108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86.6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35540" y="3008376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77824" y="3483864"/>
            <a:ext cx="10332720" cy="0"/>
          </a:xfrm>
          <a:prstGeom prst="line">
            <a:avLst/>
          </a:prstGeom>
          <a:noFill/>
          <a:ln w="7620">
            <a:solidFill>
              <a:srgbClr val="D7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675888"/>
            <a:ext cx="2148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GAAP operating profit ($B)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5770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5216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4662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4108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35540" y="3675888"/>
            <a:ext cx="13944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77824" y="4151376"/>
            <a:ext cx="10332720" cy="0"/>
          </a:xfrm>
          <a:prstGeom prst="line">
            <a:avLst/>
          </a:prstGeom>
          <a:noFill/>
          <a:ln w="7620">
            <a:solidFill>
              <a:srgbClr val="D7E1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800" y="4974336"/>
            <a:ext cx="10826496" cy="758952"/>
          </a:xfrm>
          <a:prstGeom prst="rect">
            <a:avLst/>
          </a:prstGeom>
          <a:solidFill>
            <a:srgbClr val="DDEFEA"/>
          </a:solidFill>
          <a:ln w="5080">
            <a:solidFill>
              <a:srgbClr val="DDEF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5175504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 modeled EBIT margin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897112" y="512978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17.25%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reported. FY2026–FY2030 analyst forecasts use separate assumptions for bookings growth, take rate/revenue mix and EBIT margin.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DCF valuation: $77.02 per share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223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6739128" cy="4142232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89280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 of modeled cash flows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89280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$33.47B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50976" y="2368296"/>
            <a:ext cx="6126480" cy="0"/>
          </a:xfrm>
          <a:prstGeom prst="line">
            <a:avLst/>
          </a:prstGeom>
          <a:noFill/>
          <a:ln w="7620">
            <a:solidFill>
              <a:srgbClr val="4B5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56946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 of terminal 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5694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$122.37B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50976" y="3044952"/>
            <a:ext cx="6126480" cy="0"/>
          </a:xfrm>
          <a:prstGeom prst="line">
            <a:avLst/>
          </a:prstGeom>
          <a:noFill/>
          <a:ln w="7620">
            <a:solidFill>
              <a:srgbClr val="4B5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2461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enterprise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2461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$155.85B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50976" y="3721608"/>
            <a:ext cx="6126480" cy="0"/>
          </a:xfrm>
          <a:prstGeom prst="line">
            <a:avLst/>
          </a:prstGeom>
          <a:noFill/>
          <a:ln w="7620">
            <a:solidFill>
              <a:srgbClr val="4B5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922776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cash + modeled financial assets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92277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$5.20B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50976" y="4398264"/>
            <a:ext cx="6126480" cy="0"/>
          </a:xfrm>
          <a:prstGeom prst="line">
            <a:avLst/>
          </a:prstGeom>
          <a:noFill/>
          <a:ln w="7620">
            <a:solidFill>
              <a:srgbClr val="4B5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599432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equity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459943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$161.05B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662672" y="1627632"/>
            <a:ext cx="3849624" cy="1901952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6136" y="1947672"/>
            <a:ext cx="3236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FAIR VALUE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27848" y="2295144"/>
            <a:ext cx="32826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3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$77.02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7662672" y="3694176"/>
            <a:ext cx="3849624" cy="2075688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8704" y="3922776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VALUE SHARE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18704" y="4297680"/>
            <a:ext cx="32004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78.5%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918704" y="4901184"/>
            <a:ext cx="3209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enterprise value comes from terminal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Base: 10.0% WACC, 2.75% perpetuity growth, 25% tax and 2,091M diluted shares. Valuation uses June 30 balance-sheet data.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Bear, base and bull valuations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07792" y="1819656"/>
            <a:ext cx="0" cy="3575304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48256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07792" y="2011680"/>
            <a:ext cx="2336551" cy="539496"/>
          </a:xfrm>
          <a:prstGeom prst="rect">
            <a:avLst/>
          </a:prstGeom>
          <a:solidFill>
            <a:srgbClr val="EF7775"/>
          </a:solidFill>
          <a:ln w="5080">
            <a:solidFill>
              <a:srgbClr val="EF77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08935" y="213055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$42.20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" y="2459736"/>
            <a:ext cx="1975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−37.6% vs. market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209544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07792" y="3172968"/>
            <a:ext cx="4264482" cy="539496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6866" y="329184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$77.02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" y="3621024"/>
            <a:ext cx="1975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+13.9% vs. market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4370832"/>
            <a:ext cx="1417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907792" y="4334256"/>
            <a:ext cx="7206210" cy="539496"/>
          </a:xfrm>
          <a:prstGeom prst="rect">
            <a:avLst/>
          </a:prstGeom>
          <a:solidFill>
            <a:srgbClr val="2E719F"/>
          </a:solidFill>
          <a:ln w="5080">
            <a:solidFill>
              <a:srgbClr val="2E71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78594" y="445312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$130.15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" y="4782312"/>
            <a:ext cx="1975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+92.5% vs. market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1810" y="1865376"/>
            <a:ext cx="0" cy="3300984"/>
          </a:xfrm>
          <a:prstGeom prst="line">
            <a:avLst/>
          </a:prstGeom>
          <a:noFill/>
          <a:ln w="25400">
            <a:solidFill>
              <a:srgbClr val="F3BC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28266" y="5138928"/>
            <a:ext cx="2103120" cy="420624"/>
          </a:xfrm>
          <a:prstGeom prst="rect">
            <a:avLst/>
          </a:prstGeom>
          <a:solidFill>
            <a:srgbClr val="F3BC55"/>
          </a:solidFill>
          <a:ln w="5080">
            <a:solidFill>
              <a:srgbClr val="F3BC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0562" y="521208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 $67.62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5852160"/>
            <a:ext cx="1057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 / Base / Bull WACC: 11% / 10% / 9%. 2030 EBIT margin: 14.0% / 17.25% / 20.5%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Bear/base/bull include hypothetical M&amp;A net-present-value adjustments of −$5B / $0 / +$5B, with no forecast of transaction synergies.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trading multiples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223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10808208" cy="630936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8105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OCT CLOSE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810512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/ 2025 ADJ. EBITDA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61704" y="1810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 / 2025 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377440"/>
            <a:ext cx="10808208" cy="731520"/>
          </a:xfrm>
          <a:prstGeom prst="rect">
            <a:avLst/>
          </a:prstGeom>
          <a:solidFill>
            <a:srgbClr val="263C53"/>
          </a:solidFill>
          <a:ln w="5080">
            <a:solidFill>
              <a:srgbClr val="263C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877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5877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$67.62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587752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15.2×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61704" y="2587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2.55×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4944" y="3209544"/>
            <a:ext cx="10808208" cy="731520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34198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$16.79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419856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10.5×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61704" y="34198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0.88×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" y="4041648"/>
            <a:ext cx="10808208" cy="731520"/>
          </a:xfrm>
          <a:prstGeom prst="rect">
            <a:avLst/>
          </a:prstGeom>
          <a:solidFill>
            <a:srgbClr val="263C53"/>
          </a:solidFill>
          <a:ln w="5080">
            <a:solidFill>
              <a:srgbClr val="263C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5196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DOORDASH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42519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$184.45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251960"/>
            <a:ext cx="2624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27.5×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61704" y="42519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5.57×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944" y="5138928"/>
            <a:ext cx="10808208" cy="640080"/>
          </a:xfrm>
          <a:prstGeom prst="rect">
            <a:avLst/>
          </a:prstGeom>
          <a:solidFill>
            <a:srgbClr val="243F4B"/>
          </a:solidFill>
          <a:ln w="5080">
            <a:solidFill>
              <a:srgbClr val="243F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3218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growth, leverage, accounting and business models differ materially.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FY2025 non-GAAP adjusted EBITDA, October 21 market closes and June 30, 2026 balance sheets.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Hero acquisition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55064"/>
            <a:ext cx="3474720" cy="1316736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ANNOUNCED OFFER EQUITY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$14.8B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77824" y="26334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100% of Delivery Hero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655064"/>
            <a:ext cx="3474720" cy="1316736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PRICE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35424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€41.50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535424" y="26334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Delivery Hero share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01000" y="1655064"/>
            <a:ext cx="3474720" cy="1316736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INDICATED CLOSE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93024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2027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193024" y="26334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to approvals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255264"/>
            <a:ext cx="10817352" cy="1124712"/>
          </a:xfrm>
          <a:prstGeom prst="rect">
            <a:avLst/>
          </a:prstGeom>
          <a:solidFill>
            <a:srgbClr val="FFFFFF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83864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BASE-CASE TREATMENT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67328" y="3419856"/>
            <a:ext cx="7342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Base-case merger adjustment: $0. No combined-company forecast.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4764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DATES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8952" y="5221224"/>
            <a:ext cx="4517136" cy="329184"/>
          </a:xfrm>
          <a:prstGeom prst="rect">
            <a:avLst/>
          </a:prstGeom>
          <a:solidFill>
            <a:srgbClr val="E1EFF4"/>
          </a:solidFill>
          <a:ln w="5080">
            <a:solidFill>
              <a:srgbClr val="E1EF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523951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4: Q3 EARNINGS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13832" y="5221224"/>
            <a:ext cx="4882896" cy="329184"/>
          </a:xfrm>
          <a:prstGeom prst="rect">
            <a:avLst/>
          </a:prstGeom>
          <a:solidFill>
            <a:srgbClr val="E1EFF4"/>
          </a:solidFill>
          <a:ln w="5080">
            <a:solidFill>
              <a:srgbClr val="E1EF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05272" y="52395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 5: TENDER DEADLINE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 announced July 16, with an offer-document update August 27. The transaction may change capital structure and financial investment treatment.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UBER  /  EQUITY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watchlist / neutral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1792" y="1344168"/>
            <a:ext cx="10963656" cy="0"/>
          </a:xfrm>
          <a:prstGeom prst="line">
            <a:avLst/>
          </a:prstGeom>
          <a:noFill/>
          <a:ln w="12700">
            <a:solidFill>
              <a:srgbClr val="223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19672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research  •  22 Oct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1737360"/>
            <a:ext cx="3319272" cy="329184"/>
          </a:xfrm>
          <a:prstGeom prst="rect">
            <a:avLst/>
          </a:prstGeom>
          <a:solidFill>
            <a:srgbClr val="F3BC55"/>
          </a:solidFill>
          <a:ln w="5080">
            <a:solidFill>
              <a:srgbClr val="F3BC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5564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WATCHLIST / NEUTRAL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231136"/>
            <a:ext cx="4663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$77.02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modeled intrinsic 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779008" y="1792224"/>
            <a:ext cx="0" cy="3429000"/>
          </a:xfrm>
          <a:prstGeom prst="line">
            <a:avLst/>
          </a:prstGeom>
          <a:noFill/>
          <a:ln w="25400">
            <a:solidFill>
              <a:srgbClr val="223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35624" y="1856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3D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change my view?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08776" y="2432304"/>
            <a:ext cx="118872" cy="118872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23317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entry price and wider margin of safety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08776" y="3072384"/>
            <a:ext cx="118872" cy="118872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9718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that FY2026 profit growth is durable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8776" y="3712464"/>
            <a:ext cx="118872" cy="118872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3611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 on Delivery Hero cash flow and leverage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08776" y="4352544"/>
            <a:ext cx="118872" cy="118872"/>
          </a:xfrm>
          <a:prstGeom prst="rect">
            <a:avLst/>
          </a:prstGeom>
          <a:solidFill>
            <a:srgbClr val="00A78B"/>
          </a:solidFill>
          <a:ln w="5080">
            <a:solidFill>
              <a:srgbClr val="00A7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42519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on autonomous-vehicle unit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" y="5294376"/>
            <a:ext cx="10716768" cy="576072"/>
          </a:xfrm>
          <a:prstGeom prst="rect">
            <a:avLst/>
          </a:prstGeom>
          <a:solidFill>
            <a:srgbClr val="22364A"/>
          </a:solidFill>
          <a:ln w="5080">
            <a:solidFill>
              <a:srgbClr val="2236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5431536"/>
            <a:ext cx="10351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MODEL INCLUDES SOURCES, ASSUMPTIONS AND SENSITIVITIES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190488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F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Uber 2025 Form 10-K; 2026 Q2 Form 10-Q and earnings release; July/August 2026 Delivery Hero releases; dated market closes. Educational research, not personalized investment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(UBER): Investment Research</dc:title>
  <dc:subject>Uber Technologies standalone equity research and valuation</dc:subject>
  <dc:creator>Independent Equity Research</dc:creator>
  <cp:lastModifiedBy>Independent Equity Research</cp:lastModifiedBy>
  <cp:revision>1</cp:revision>
  <dcterms:created xsi:type="dcterms:W3CDTF">2026-10-22T22:38:28Z</dcterms:created>
  <dcterms:modified xsi:type="dcterms:W3CDTF">2026-10-22T22:38:28Z</dcterms:modified>
</cp:coreProperties>
</file>