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6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A78B"/>
          </a:solidFill>
          <a:ln w="5080">
            <a:solidFill>
              <a:srgbClr val="00A7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94944" y="58521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53D7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EQUITY RESEARCH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170432"/>
            <a:ext cx="1069848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UBER</a:t>
            </a:r>
            <a:endParaRPr lang="en-US" sz="10000" dirty="0"/>
          </a:p>
        </p:txBody>
      </p:sp>
      <p:sp>
        <p:nvSpPr>
          <p:cNvPr id="5" name="Text 3"/>
          <p:cNvSpPr/>
          <p:nvPr/>
        </p:nvSpPr>
        <p:spPr>
          <a:xfrm>
            <a:off x="731520" y="2587752"/>
            <a:ext cx="9966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C0CF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 is real. Is the price right?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722376" y="3328416"/>
            <a:ext cx="10762488" cy="0"/>
          </a:xfrm>
          <a:prstGeom prst="line">
            <a:avLst/>
          </a:prstGeom>
          <a:noFill/>
          <a:ln w="25400">
            <a:solidFill>
              <a:srgbClr val="22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3685032"/>
            <a:ext cx="3246120" cy="1234440"/>
          </a:xfrm>
          <a:prstGeom prst="rect">
            <a:avLst/>
          </a:prstGeom>
          <a:solidFill>
            <a:srgbClr val="22364A"/>
          </a:solidFill>
          <a:ln w="5080">
            <a:solidFill>
              <a:srgbClr val="2236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05256" y="3877056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0CF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PRICE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05256" y="416052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$67.62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4133088" y="3685032"/>
            <a:ext cx="3246120" cy="1234440"/>
          </a:xfrm>
          <a:prstGeom prst="rect">
            <a:avLst/>
          </a:prstGeom>
          <a:solidFill>
            <a:srgbClr val="22364A"/>
          </a:solidFill>
          <a:ln w="5080">
            <a:solidFill>
              <a:srgbClr val="2236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25112" y="3877056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0CF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INTRINSIC VALUE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25112" y="416052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$77.02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7543800" y="3685032"/>
            <a:ext cx="3246120" cy="1234440"/>
          </a:xfrm>
          <a:prstGeom prst="rect">
            <a:avLst/>
          </a:prstGeom>
          <a:solidFill>
            <a:srgbClr val="22364A"/>
          </a:solidFill>
          <a:ln w="5080">
            <a:solidFill>
              <a:srgbClr val="2236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35824" y="3877056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0CF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MODELED UPSIDE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35824" y="416052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+13.9%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713232" y="5257800"/>
            <a:ext cx="3273552" cy="329184"/>
          </a:xfrm>
          <a:prstGeom prst="rect">
            <a:avLst/>
          </a:prstGeom>
          <a:solidFill>
            <a:srgbClr val="F3BC55"/>
          </a:solidFill>
          <a:ln w="5080">
            <a:solidFill>
              <a:srgbClr val="F3BC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527608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WATCHLIST / NEUTRAL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3232" y="6144768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0CF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As-of: October 21, 2026 close  |  Published October 22,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3200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5" kern="0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UBER  /  EQUITY RESEARCH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49808"/>
            <a:ext cx="10881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Transaction growth outpaces reported revenue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21792" y="1344168"/>
            <a:ext cx="10963656" cy="0"/>
          </a:xfrm>
          <a:prstGeom prst="line">
            <a:avLst/>
          </a:prstGeom>
          <a:noFill/>
          <a:ln w="12700">
            <a:solidFill>
              <a:srgbClr val="D7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519672"/>
            <a:ext cx="5486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research  •  22 Oct 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1082528" y="64922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58368" y="1682496"/>
            <a:ext cx="3493008" cy="1417320"/>
          </a:xfrm>
          <a:prstGeom prst="rect">
            <a:avLst/>
          </a:prstGeom>
          <a:solidFill>
            <a:srgbClr val="FFFFFF"/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" y="1874520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FY2025 gross bookings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50392" y="2157984"/>
            <a:ext cx="3127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$193.5B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850392" y="2761488"/>
            <a:ext cx="3127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+19% year over year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352544" y="1682496"/>
            <a:ext cx="3493008" cy="1417320"/>
          </a:xfrm>
          <a:prstGeom prst="rect">
            <a:avLst/>
          </a:prstGeom>
          <a:solidFill>
            <a:srgbClr val="FFFFFF"/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44568" y="1874520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FY2025 GAAP revenue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44568" y="2157984"/>
            <a:ext cx="3127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$52.0B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4544568" y="2761488"/>
            <a:ext cx="3127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Reported accounting presentation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046720" y="1682496"/>
            <a:ext cx="3493008" cy="1417320"/>
          </a:xfrm>
          <a:prstGeom prst="rect">
            <a:avLst/>
          </a:prstGeom>
          <a:solidFill>
            <a:srgbClr val="FFFFFF"/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38744" y="1874520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FY2025 reported FCF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38744" y="2157984"/>
            <a:ext cx="3127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$9.76B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8238744" y="2761488"/>
            <a:ext cx="3127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from unlevered DCF FCF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58368" y="3410712"/>
            <a:ext cx="10881360" cy="2313432"/>
          </a:xfrm>
          <a:prstGeom prst="rect">
            <a:avLst/>
          </a:prstGeom>
          <a:solidFill>
            <a:srgbClr val="FFFFFF"/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" y="3621024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 2026 YoY performance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14400" y="4169664"/>
            <a:ext cx="2423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GROSS BOOKINGS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4400" y="448970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0A7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+24%</a:t>
            </a:r>
            <a:endParaRPr lang="en-US" sz="2900" dirty="0"/>
          </a:p>
        </p:txBody>
      </p:sp>
      <p:sp>
        <p:nvSpPr>
          <p:cNvPr id="23" name="Text 21"/>
          <p:cNvSpPr/>
          <p:nvPr/>
        </p:nvSpPr>
        <p:spPr>
          <a:xfrm>
            <a:off x="3593592" y="4169664"/>
            <a:ext cx="2423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593592" y="448970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+12%</a:t>
            </a:r>
            <a:endParaRPr lang="en-US" sz="2900" dirty="0"/>
          </a:p>
        </p:txBody>
      </p:sp>
      <p:sp>
        <p:nvSpPr>
          <p:cNvPr id="25" name="Text 23"/>
          <p:cNvSpPr/>
          <p:nvPr/>
        </p:nvSpPr>
        <p:spPr>
          <a:xfrm>
            <a:off x="6272784" y="4169664"/>
            <a:ext cx="2423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ADJ. EBITDA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272784" y="448970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+33%</a:t>
            </a:r>
            <a:endParaRPr lang="en-US" sz="2900" dirty="0"/>
          </a:p>
        </p:txBody>
      </p:sp>
      <p:sp>
        <p:nvSpPr>
          <p:cNvPr id="27" name="Text 25"/>
          <p:cNvSpPr/>
          <p:nvPr/>
        </p:nvSpPr>
        <p:spPr>
          <a:xfrm>
            <a:off x="8951976" y="4169664"/>
            <a:ext cx="2423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TRIPS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951976" y="448970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+18%</a:t>
            </a:r>
            <a:endParaRPr lang="en-US" sz="2900" dirty="0"/>
          </a:p>
        </p:txBody>
      </p:sp>
      <p:sp>
        <p:nvSpPr>
          <p:cNvPr id="29" name="Text 27"/>
          <p:cNvSpPr/>
          <p:nvPr/>
        </p:nvSpPr>
        <p:spPr>
          <a:xfrm>
            <a:off x="640080" y="6190488"/>
            <a:ext cx="10789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Reported revenue growth was affected by UK Mobility business-model changes (~$1.1B quarterly effect). Sources: Uber 2025 10-K and Q2 2026 results.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6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3200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5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UBER  /  EQUITY RESEARCH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49808"/>
            <a:ext cx="10881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core investment debate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21792" y="1344168"/>
            <a:ext cx="10963656" cy="0"/>
          </a:xfrm>
          <a:prstGeom prst="line">
            <a:avLst/>
          </a:prstGeom>
          <a:noFill/>
          <a:ln w="12700">
            <a:solidFill>
              <a:srgbClr val="2236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519672"/>
            <a:ext cx="5486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0CF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research  •  22 Oct 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1082528" y="64922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0CF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58368" y="1709928"/>
            <a:ext cx="5303520" cy="2862072"/>
          </a:xfrm>
          <a:prstGeom prst="rect">
            <a:avLst/>
          </a:prstGeom>
          <a:solidFill>
            <a:srgbClr val="22364A"/>
          </a:solidFill>
          <a:ln w="5080">
            <a:solidFill>
              <a:srgbClr val="2236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189280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UPSIDE  /  AGGREGATION POWER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41248" y="2331720"/>
            <a:ext cx="4937760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F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Uber combines a large demand network, driver supply, delivery density, and consumer engagement. If bookings remain strong and operating leverage expands, free cash generation may grow faster than sales.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81344" y="1709928"/>
            <a:ext cx="5340096" cy="2862072"/>
          </a:xfrm>
          <a:prstGeom prst="rect">
            <a:avLst/>
          </a:prstGeom>
          <a:solidFill>
            <a:srgbClr val="22364A"/>
          </a:solidFill>
          <a:ln w="5080">
            <a:solidFill>
              <a:srgbClr val="2236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4224" y="1892808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DOWNSIDE  /  DISINTERMEDIATION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364224" y="2331720"/>
            <a:ext cx="497433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F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Autonomous fleets might bypass the marketplace. Insurance, driver economics, regulation and spending on autonomy could prevent margin gains. An acquisition may increase leverage.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8368" y="4818888"/>
            <a:ext cx="10863072" cy="996696"/>
          </a:xfrm>
          <a:prstGeom prst="rect">
            <a:avLst/>
          </a:prstGeom>
          <a:solidFill>
            <a:srgbClr val="22364A"/>
          </a:solidFill>
          <a:ln w="5080">
            <a:solidFill>
              <a:srgbClr val="2236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97433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3D7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QUESTION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843784" y="4910328"/>
            <a:ext cx="826617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 durable owner cash flow worth more than $67.62 per share?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40080" y="6190488"/>
            <a:ext cx="10789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0CF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 thesis is conditional, not a claim that current market expectations are necessarily incorrect.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3200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5" kern="0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UBER  /  EQUITY RESEARCH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49808"/>
            <a:ext cx="10881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case: scale and expanding operating margin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21792" y="1344168"/>
            <a:ext cx="10963656" cy="0"/>
          </a:xfrm>
          <a:prstGeom prst="line">
            <a:avLst/>
          </a:prstGeom>
          <a:noFill/>
          <a:ln w="12700">
            <a:solidFill>
              <a:srgbClr val="D7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519672"/>
            <a:ext cx="5486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research  •  22 Oct 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1082528" y="64922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" y="1655064"/>
            <a:ext cx="10826496" cy="3108960"/>
          </a:xfrm>
          <a:prstGeom prst="rect">
            <a:avLst/>
          </a:prstGeom>
          <a:solidFill>
            <a:srgbClr val="FFFFFF"/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828800"/>
            <a:ext cx="914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$B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063240" y="1837944"/>
            <a:ext cx="13944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2025A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457700" y="1837944"/>
            <a:ext cx="13944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852160" y="1837944"/>
            <a:ext cx="13944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2027E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246620" y="1837944"/>
            <a:ext cx="13944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2028E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41080" y="1837944"/>
            <a:ext cx="13944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2029E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035540" y="1837944"/>
            <a:ext cx="13944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2030E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6112" y="2340864"/>
            <a:ext cx="2148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Gross bookings ($B)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063240" y="2340864"/>
            <a:ext cx="13944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193.5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57700" y="2340864"/>
            <a:ext cx="13944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230.2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852160" y="2340864"/>
            <a:ext cx="13944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267.0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246620" y="2340864"/>
            <a:ext cx="13944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304.4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41080" y="2340864"/>
            <a:ext cx="13944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341.0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35540" y="2340864"/>
            <a:ext cx="13944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375.1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77824" y="2816352"/>
            <a:ext cx="10332720" cy="0"/>
          </a:xfrm>
          <a:prstGeom prst="line">
            <a:avLst/>
          </a:prstGeom>
          <a:noFill/>
          <a:ln w="7620">
            <a:solidFill>
              <a:srgbClr val="D7E1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6112" y="3008376"/>
            <a:ext cx="2148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GAAP revenue ($B)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063240" y="3008376"/>
            <a:ext cx="13944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52.0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457700" y="3008376"/>
            <a:ext cx="13944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57.8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852160" y="3008376"/>
            <a:ext cx="13944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67.3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246620" y="3008376"/>
            <a:ext cx="13944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77.0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641080" y="3008376"/>
            <a:ext cx="13944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86.6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035540" y="3008376"/>
            <a:ext cx="13944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95.5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77824" y="3483864"/>
            <a:ext cx="10332720" cy="0"/>
          </a:xfrm>
          <a:prstGeom prst="line">
            <a:avLst/>
          </a:prstGeom>
          <a:noFill/>
          <a:ln w="7620">
            <a:solidFill>
              <a:srgbClr val="D7E1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96112" y="3675888"/>
            <a:ext cx="2148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GAAP operating profit ($B)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063240" y="3675888"/>
            <a:ext cx="13944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A7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5.6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457700" y="3675888"/>
            <a:ext cx="13944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A7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8.1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52160" y="3675888"/>
            <a:ext cx="13944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A7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10.1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246620" y="3675888"/>
            <a:ext cx="13944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A7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12.3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641080" y="3675888"/>
            <a:ext cx="13944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A7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14.5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0035540" y="3675888"/>
            <a:ext cx="13944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A7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16.5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877824" y="4151376"/>
            <a:ext cx="10332720" cy="0"/>
          </a:xfrm>
          <a:prstGeom prst="line">
            <a:avLst/>
          </a:prstGeom>
          <a:noFill/>
          <a:ln w="7620">
            <a:solidFill>
              <a:srgbClr val="D7E1E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5800" y="4974336"/>
            <a:ext cx="10826496" cy="758952"/>
          </a:xfrm>
          <a:prstGeom prst="rect">
            <a:avLst/>
          </a:prstGeom>
          <a:solidFill>
            <a:srgbClr val="DDEFEA"/>
          </a:solidFill>
          <a:ln w="5080">
            <a:solidFill>
              <a:srgbClr val="DDEF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50976" y="5175504"/>
            <a:ext cx="5029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2030 modeled EBIT margin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8897112" y="5129784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0A7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17.25%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40080" y="6190488"/>
            <a:ext cx="10789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FY2025 reported; FY2026–FY2030 analyst forecasts. Model separates bookings growth, take rate/revenue mix and EBIT margin assumptions.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6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3200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5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UBER  /  EQUITY RESEARCH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49808"/>
            <a:ext cx="10881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DCF bridge: $77.02 intrinsic value per share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21792" y="1344168"/>
            <a:ext cx="10963656" cy="0"/>
          </a:xfrm>
          <a:prstGeom prst="line">
            <a:avLst/>
          </a:prstGeom>
          <a:noFill/>
          <a:ln w="12700">
            <a:solidFill>
              <a:srgbClr val="2236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519672"/>
            <a:ext cx="5486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0CF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research  •  22 Oct 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1082528" y="64922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0CF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" y="1627632"/>
            <a:ext cx="6739128" cy="4142232"/>
          </a:xfrm>
          <a:prstGeom prst="rect">
            <a:avLst/>
          </a:prstGeom>
          <a:solidFill>
            <a:srgbClr val="22364A"/>
          </a:solidFill>
          <a:ln w="5080">
            <a:solidFill>
              <a:srgbClr val="2236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41832" y="1892808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0CF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PV of modeled cash flows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212080" y="189280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$33.47B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950976" y="2368296"/>
            <a:ext cx="6126480" cy="0"/>
          </a:xfrm>
          <a:prstGeom prst="line">
            <a:avLst/>
          </a:prstGeom>
          <a:noFill/>
          <a:ln w="7620">
            <a:solidFill>
              <a:srgbClr val="4B5C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1832" y="2569464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0CF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PV of terminal value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212080" y="2569464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$122.37B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950976" y="3044952"/>
            <a:ext cx="6126480" cy="0"/>
          </a:xfrm>
          <a:prstGeom prst="line">
            <a:avLst/>
          </a:prstGeom>
          <a:noFill/>
          <a:ln w="7620">
            <a:solidFill>
              <a:srgbClr val="4B5C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41832" y="3246120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CF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Standalone enterprise value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212080" y="3246120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$155.85B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950976" y="3721608"/>
            <a:ext cx="6126480" cy="0"/>
          </a:xfrm>
          <a:prstGeom prst="line">
            <a:avLst/>
          </a:prstGeom>
          <a:noFill/>
          <a:ln w="7620">
            <a:solidFill>
              <a:srgbClr val="4B5C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1832" y="3922776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0CF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cash + modeled financial assets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212080" y="3922776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$5.20B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950976" y="4398264"/>
            <a:ext cx="6126480" cy="0"/>
          </a:xfrm>
          <a:prstGeom prst="line">
            <a:avLst/>
          </a:prstGeom>
          <a:noFill/>
          <a:ln w="7620">
            <a:solidFill>
              <a:srgbClr val="4B5C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1832" y="4599432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CF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Modeled equity 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12080" y="459943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$161.05B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7662672" y="1627632"/>
            <a:ext cx="3849624" cy="1901952"/>
          </a:xfrm>
          <a:prstGeom prst="rect">
            <a:avLst/>
          </a:prstGeom>
          <a:solidFill>
            <a:srgbClr val="22364A"/>
          </a:solidFill>
          <a:ln w="5080">
            <a:solidFill>
              <a:srgbClr val="2236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46136" y="1947672"/>
            <a:ext cx="323697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CF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FAIR VALUE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927848" y="2295144"/>
            <a:ext cx="328269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3D7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$77.02</a:t>
            </a:r>
            <a:endParaRPr lang="en-US" sz="3800" dirty="0"/>
          </a:p>
        </p:txBody>
      </p:sp>
      <p:sp>
        <p:nvSpPr>
          <p:cNvPr id="25" name="Shape 23"/>
          <p:cNvSpPr/>
          <p:nvPr/>
        </p:nvSpPr>
        <p:spPr>
          <a:xfrm>
            <a:off x="7662672" y="3694176"/>
            <a:ext cx="3849624" cy="2075688"/>
          </a:xfrm>
          <a:prstGeom prst="rect">
            <a:avLst/>
          </a:prstGeom>
          <a:solidFill>
            <a:srgbClr val="22364A"/>
          </a:solidFill>
          <a:ln w="5080">
            <a:solidFill>
              <a:srgbClr val="2236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18704" y="3922776"/>
            <a:ext cx="3218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BC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VULNERABILITY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918704" y="4297680"/>
            <a:ext cx="32004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78.5%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7918704" y="4901184"/>
            <a:ext cx="3209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F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 enterprise value comes from the terminal component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6190488"/>
            <a:ext cx="10789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0CF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Base: 10.0% WACC, 2.75% perpetuity growth, 25% tax, 2,091M diluted shares; valuation uses June 30 balance-sheet data.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3200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5" kern="0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UBER  /  EQUITY RESEARCH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49808"/>
            <a:ext cx="10881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Outcomes are asymmetric—but highly assumption-sensitive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21792" y="1344168"/>
            <a:ext cx="10963656" cy="0"/>
          </a:xfrm>
          <a:prstGeom prst="line">
            <a:avLst/>
          </a:prstGeom>
          <a:noFill/>
          <a:ln w="12700">
            <a:solidFill>
              <a:srgbClr val="D7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519672"/>
            <a:ext cx="5486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research  •  22 Oct 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1082528" y="64922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907792" y="1819656"/>
            <a:ext cx="0" cy="3575304"/>
          </a:xfrm>
          <a:prstGeom prst="line">
            <a:avLst/>
          </a:prstGeom>
          <a:noFill/>
          <a:ln w="12700">
            <a:solidFill>
              <a:srgbClr val="D7E1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2048256"/>
            <a:ext cx="1417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BEAR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907792" y="2011680"/>
            <a:ext cx="2336551" cy="539496"/>
          </a:xfrm>
          <a:prstGeom prst="rect">
            <a:avLst/>
          </a:prstGeom>
          <a:solidFill>
            <a:srgbClr val="EF7775"/>
          </a:solidFill>
          <a:ln w="5080">
            <a:solidFill>
              <a:srgbClr val="EF77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08935" y="2130552"/>
            <a:ext cx="1965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$42.20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32104" y="2459736"/>
            <a:ext cx="19751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−37.6% vs. market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" y="3209544"/>
            <a:ext cx="1417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907792" y="3172968"/>
            <a:ext cx="4264482" cy="539496"/>
          </a:xfrm>
          <a:prstGeom prst="rect">
            <a:avLst/>
          </a:prstGeom>
          <a:solidFill>
            <a:srgbClr val="00A78B"/>
          </a:solidFill>
          <a:ln w="5080">
            <a:solidFill>
              <a:srgbClr val="00A78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36866" y="3291840"/>
            <a:ext cx="1965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$77.02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2104" y="3621024"/>
            <a:ext cx="19751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+13.9% vs. market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04672" y="4370832"/>
            <a:ext cx="1417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BULL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907792" y="4334256"/>
            <a:ext cx="7206210" cy="539496"/>
          </a:xfrm>
          <a:prstGeom prst="rect">
            <a:avLst/>
          </a:prstGeom>
          <a:solidFill>
            <a:srgbClr val="2E719F"/>
          </a:solidFill>
          <a:ln w="5080">
            <a:solidFill>
              <a:srgbClr val="2E719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78594" y="4453128"/>
            <a:ext cx="1965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$130.15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2104" y="4782312"/>
            <a:ext cx="19751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+92.5% vs. market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651810" y="1865376"/>
            <a:ext cx="0" cy="3300984"/>
          </a:xfrm>
          <a:prstGeom prst="line">
            <a:avLst/>
          </a:prstGeom>
          <a:noFill/>
          <a:ln w="25400">
            <a:solidFill>
              <a:srgbClr val="F3BC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28266" y="5138928"/>
            <a:ext cx="2103120" cy="420624"/>
          </a:xfrm>
          <a:prstGeom prst="rect">
            <a:avLst/>
          </a:prstGeom>
          <a:solidFill>
            <a:srgbClr val="F3BC55"/>
          </a:solidFill>
          <a:ln w="5080">
            <a:solidFill>
              <a:srgbClr val="F3BC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10562" y="5212080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 $67.62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1248" y="5852160"/>
            <a:ext cx="10579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Bear / Base / Bull WACC: 11% / 10% / 9%    |    2030 EBIT margin: 14.0% / 17.25% / 20.5%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6190488"/>
            <a:ext cx="10789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Hypothetical M&amp;A net-present-value adjustments in bear/base/bull: −$5B / $0 / +$5B. These are not forecast transaction synergies.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6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3200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5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UBER  /  EQUITY RESEARCH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49808"/>
            <a:ext cx="10881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Trading multiples: a cross-check, not the thesis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21792" y="1344168"/>
            <a:ext cx="10963656" cy="0"/>
          </a:xfrm>
          <a:prstGeom prst="line">
            <a:avLst/>
          </a:prstGeom>
          <a:noFill/>
          <a:ln w="12700">
            <a:solidFill>
              <a:srgbClr val="2236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519672"/>
            <a:ext cx="5486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0CF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research  •  22 Oct 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1082528" y="64922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0CF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94944" y="1664208"/>
            <a:ext cx="10808208" cy="630936"/>
          </a:xfrm>
          <a:prstGeom prst="rect">
            <a:avLst/>
          </a:prstGeom>
          <a:solidFill>
            <a:srgbClr val="22364A"/>
          </a:solidFill>
          <a:ln w="5080">
            <a:solidFill>
              <a:srgbClr val="2236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81051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COMPANY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840480" y="18105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 OCT CLOSE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0" y="1810512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 / 2025 ADJ. EBITDA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061704" y="181051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 / 2025 REVENUE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94944" y="2377440"/>
            <a:ext cx="10808208" cy="731520"/>
          </a:xfrm>
          <a:prstGeom prst="rect">
            <a:avLst/>
          </a:prstGeom>
          <a:solidFill>
            <a:srgbClr val="263C53"/>
          </a:solidFill>
          <a:ln w="5080">
            <a:solidFill>
              <a:srgbClr val="263C5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2587752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UBER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840480" y="2587752"/>
            <a:ext cx="2468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$67.62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0" y="2587752"/>
            <a:ext cx="2624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15.2×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061704" y="2587752"/>
            <a:ext cx="2103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2.55×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94944" y="3209544"/>
            <a:ext cx="10808208" cy="731520"/>
          </a:xfrm>
          <a:prstGeom prst="rect">
            <a:avLst/>
          </a:prstGeom>
          <a:solidFill>
            <a:srgbClr val="22364A"/>
          </a:solidFill>
          <a:ln w="5080">
            <a:solidFill>
              <a:srgbClr val="2236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419856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LYFT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840480" y="3419856"/>
            <a:ext cx="2468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$16.79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0" y="3419856"/>
            <a:ext cx="2624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10.5×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061704" y="3419856"/>
            <a:ext cx="2103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0.88×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94944" y="4041648"/>
            <a:ext cx="10808208" cy="731520"/>
          </a:xfrm>
          <a:prstGeom prst="rect">
            <a:avLst/>
          </a:prstGeom>
          <a:solidFill>
            <a:srgbClr val="263C53"/>
          </a:solidFill>
          <a:ln w="5080">
            <a:solidFill>
              <a:srgbClr val="263C5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251960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DOORDASH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840480" y="4251960"/>
            <a:ext cx="2468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$184.45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00800" y="4251960"/>
            <a:ext cx="2624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27.5×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061704" y="4251960"/>
            <a:ext cx="2103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5.57×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94944" y="5138928"/>
            <a:ext cx="10808208" cy="640080"/>
          </a:xfrm>
          <a:prstGeom prst="rect">
            <a:avLst/>
          </a:prstGeom>
          <a:solidFill>
            <a:srgbClr val="243F4B"/>
          </a:solidFill>
          <a:ln w="5080">
            <a:solidFill>
              <a:srgbClr val="243F4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532180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3D7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Caution: growth, leverage, accounting and business models differ materially across the peer set.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6190488"/>
            <a:ext cx="10789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0CF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FY2025 non-GAAP adjusted EBITDA; October 21 market closes; June 30, 2026 balance sheets. Directional peer check only.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3200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5" kern="0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UBER  /  EQUITY RESEARCH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49808"/>
            <a:ext cx="10881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Delivery Hero: an event risk the base case cannot ignore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21792" y="1344168"/>
            <a:ext cx="10963656" cy="0"/>
          </a:xfrm>
          <a:prstGeom prst="line">
            <a:avLst/>
          </a:prstGeom>
          <a:noFill/>
          <a:ln w="12700">
            <a:solidFill>
              <a:srgbClr val="D7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519672"/>
            <a:ext cx="5486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research  •  22 Oct 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1082528" y="64922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" y="1655064"/>
            <a:ext cx="3474720" cy="1316736"/>
          </a:xfrm>
          <a:prstGeom prst="rect">
            <a:avLst/>
          </a:prstGeom>
          <a:solidFill>
            <a:srgbClr val="FFFFFF"/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7824" y="184708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ANNOUNCED OFFER EQUITY VALUE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77824" y="213055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$14.8B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877824" y="2633472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100% of Delivery Hero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343400" y="1655064"/>
            <a:ext cx="3474720" cy="1316736"/>
          </a:xfrm>
          <a:prstGeom prst="rect">
            <a:avLst/>
          </a:prstGeom>
          <a:solidFill>
            <a:srgbClr val="FFFFFF"/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35424" y="184708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 PRICE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35424" y="213055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€41.50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4535424" y="2633472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 Delivery Hero share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001000" y="1655064"/>
            <a:ext cx="3474720" cy="1316736"/>
          </a:xfrm>
          <a:prstGeom prst="rect">
            <a:avLst/>
          </a:prstGeom>
          <a:solidFill>
            <a:srgbClr val="FFFFFF"/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93024" y="184708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INDICATED CLOSE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193024" y="213055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H2 2027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8193024" y="2633472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Subject to approvals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85800" y="3255264"/>
            <a:ext cx="10817352" cy="1124712"/>
          </a:xfrm>
          <a:prstGeom prst="rect">
            <a:avLst/>
          </a:prstGeom>
          <a:solidFill>
            <a:srgbClr val="FFFFFF"/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3483864"/>
            <a:ext cx="3566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VALUATION DISCIPLINE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767328" y="3419856"/>
            <a:ext cx="7342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7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Base-case merger overlay: $0; no unverified combined-company forecast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77240" y="476402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DATES TO WATCH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758952" y="5221224"/>
            <a:ext cx="4517136" cy="329184"/>
          </a:xfrm>
          <a:prstGeom prst="rect">
            <a:avLst/>
          </a:prstGeom>
          <a:solidFill>
            <a:srgbClr val="E1EFF4"/>
          </a:solidFill>
          <a:ln w="5080">
            <a:solidFill>
              <a:srgbClr val="E1EFF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0392" y="5239512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 4  •  Q3 EARNINGS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513832" y="5221224"/>
            <a:ext cx="4882896" cy="329184"/>
          </a:xfrm>
          <a:prstGeom prst="rect">
            <a:avLst/>
          </a:prstGeom>
          <a:solidFill>
            <a:srgbClr val="E1EFF4"/>
          </a:solidFill>
          <a:ln w="5080">
            <a:solidFill>
              <a:srgbClr val="E1EFF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05272" y="5239512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 5  •  TENDER DEADLINE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" y="6190488"/>
            <a:ext cx="10789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36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July 16 announced bid; August 27 offer-document update. Transaction may alter capital structure and financial investment treatment.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16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3200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5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UBER  /  EQUITY RESEARCH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49808"/>
            <a:ext cx="10881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Conclusion: promising business, limited margin of safety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21792" y="1344168"/>
            <a:ext cx="10963656" cy="0"/>
          </a:xfrm>
          <a:prstGeom prst="line">
            <a:avLst/>
          </a:prstGeom>
          <a:noFill/>
          <a:ln w="12700">
            <a:solidFill>
              <a:srgbClr val="2236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519672"/>
            <a:ext cx="5486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0CF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research  •  22 Oct 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1082528" y="64922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0CF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49808" y="1737360"/>
            <a:ext cx="3319272" cy="329184"/>
          </a:xfrm>
          <a:prstGeom prst="rect">
            <a:avLst/>
          </a:prstGeom>
          <a:solidFill>
            <a:srgbClr val="F3BC55"/>
          </a:solidFill>
          <a:ln w="5080">
            <a:solidFill>
              <a:srgbClr val="F3BC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1755648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2C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WATCHLIST / NEUTRAL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04088" y="2231136"/>
            <a:ext cx="4663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$77.02</a:t>
            </a:r>
            <a:endParaRPr lang="en-US" sz="5300" dirty="0"/>
          </a:p>
        </p:txBody>
      </p:sp>
      <p:sp>
        <p:nvSpPr>
          <p:cNvPr id="10" name="Text 8"/>
          <p:cNvSpPr/>
          <p:nvPr/>
        </p:nvSpPr>
        <p:spPr>
          <a:xfrm>
            <a:off x="804672" y="315468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0CF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modeled intrinsic value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779008" y="1792224"/>
            <a:ext cx="0" cy="3429000"/>
          </a:xfrm>
          <a:prstGeom prst="line">
            <a:avLst/>
          </a:prstGeom>
          <a:noFill/>
          <a:ln w="25400">
            <a:solidFill>
              <a:srgbClr val="2236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35624" y="185623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3D7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would change the stance?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08776" y="2432304"/>
            <a:ext cx="118872" cy="118872"/>
          </a:xfrm>
          <a:prstGeom prst="rect">
            <a:avLst/>
          </a:prstGeom>
          <a:solidFill>
            <a:srgbClr val="00A78B"/>
          </a:solidFill>
          <a:ln w="5080">
            <a:solidFill>
              <a:srgbClr val="00A78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47104" y="233172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better entry price and wider margin of safety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08776" y="3072384"/>
            <a:ext cx="118872" cy="118872"/>
          </a:xfrm>
          <a:prstGeom prst="rect">
            <a:avLst/>
          </a:prstGeom>
          <a:solidFill>
            <a:srgbClr val="00A78B"/>
          </a:solidFill>
          <a:ln w="5080">
            <a:solidFill>
              <a:srgbClr val="00A78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47104" y="297180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that FY2026 profit growth is durable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08776" y="3712464"/>
            <a:ext cx="118872" cy="118872"/>
          </a:xfrm>
          <a:prstGeom prst="rect">
            <a:avLst/>
          </a:prstGeom>
          <a:solidFill>
            <a:srgbClr val="00A78B"/>
          </a:solidFill>
          <a:ln w="5080">
            <a:solidFill>
              <a:srgbClr val="00A78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47104" y="361188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Delivery Hero cash-flow/leverage underwriting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08776" y="4352544"/>
            <a:ext cx="118872" cy="118872"/>
          </a:xfrm>
          <a:prstGeom prst="rect">
            <a:avLst/>
          </a:prstGeom>
          <a:solidFill>
            <a:srgbClr val="00A78B"/>
          </a:solidFill>
          <a:ln w="5080">
            <a:solidFill>
              <a:srgbClr val="00A78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47104" y="425196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Visibility into autonomous-vehicle unit economics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58952" y="5294376"/>
            <a:ext cx="10716768" cy="576072"/>
          </a:xfrm>
          <a:prstGeom prst="rect">
            <a:avLst/>
          </a:prstGeom>
          <a:solidFill>
            <a:srgbClr val="22364A"/>
          </a:solidFill>
          <a:ln w="5080">
            <a:solidFill>
              <a:srgbClr val="2236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1832" y="5431536"/>
            <a:ext cx="103510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SOURCE AUDIT, ASSUMPTIONS AND SENSITIVITIES INCLUDED IN THE ACCOMPANYING EXCEL MODEL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6190488"/>
            <a:ext cx="10789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0CF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Uber 2025 Form 10-K; 2026 Q2 Form 10-Q and earnings release; July/August 2026 Delivery Hero releases; dated market closes. Educational research, not personalized investment advice.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Uber (UBER): Investment Research</dc:title>
  <dc:subject>Uber Technologies standalone equity research and valuation</dc:subject>
  <dc:creator>Independent Equity Research</dc:creator>
  <cp:lastModifiedBy>Independent Equity Research</cp:lastModifiedBy>
  <cp:revision>1</cp:revision>
  <dcterms:created xsi:type="dcterms:W3CDTF">2026-10-22T22:38:28Z</dcterms:created>
  <dcterms:modified xsi:type="dcterms:W3CDTF">2026-10-22T22:38:28Z</dcterms:modified>
</cp:coreProperties>
</file>