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5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1A558"/>
          </a:solidFill>
          <a:ln w="12700">
            <a:solidFill>
              <a:srgbClr val="D1A55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64008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1A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PUBLIC-TO-PRIVATE | INVESTMENT COMMITTEE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H&amp;R BLOCK</a:t>
            </a:r>
            <a:endParaRPr lang="en-US" sz="5100" dirty="0"/>
          </a:p>
        </p:txBody>
      </p:sp>
      <p:sp>
        <p:nvSpPr>
          <p:cNvPr id="5" name="Text 3"/>
          <p:cNvSpPr/>
          <p:nvPr/>
        </p:nvSpPr>
        <p:spPr>
          <a:xfrm>
            <a:off x="704088" y="241401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C8D9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price of predictable cash flow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04088" y="3749040"/>
            <a:ext cx="10744200" cy="1691640"/>
          </a:xfrm>
          <a:prstGeom prst="roundRect">
            <a:avLst>
              <a:gd name="adj" fmla="val 6486"/>
            </a:avLst>
          </a:prstGeom>
          <a:solidFill>
            <a:srgbClr val="1B344F"/>
          </a:solidFill>
          <a:ln w="12700">
            <a:solidFill>
              <a:srgbClr val="1B344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4014216"/>
            <a:ext cx="3657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8B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43891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069080" y="4370832"/>
            <a:ext cx="6629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16.7% modeled base IRR  |  20% investment hurdle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04088" y="62362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4C6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Hypothetical transaction  •  22 October 2026  •  US$ millions unless noted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2253F"/>
          </a:solidFill>
          <a:ln w="12700">
            <a:solidFill>
              <a:srgbClr val="12253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0058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b="1" spc="160" kern="0" dirty="0">
                <a:solidFill>
                  <a:srgbClr val="D1A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EQUITY | INVESTMENT COMMITTEE</a:t>
            </a:r>
            <a:endParaRPr lang="en-US" sz="91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25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investment decision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261872"/>
            <a:ext cx="11201400" cy="0"/>
          </a:xfrm>
          <a:prstGeom prst="line">
            <a:avLst/>
          </a:prstGeom>
          <a:noFill/>
          <a:ln w="12700">
            <a:solidFill>
              <a:srgbClr val="DAE4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9224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H&amp;R BLOCK  •  22 OCT 2026  •  ILLUSTRATIVE / NOT AN OFFER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4712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150876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508760"/>
            <a:ext cx="64008" cy="1874520"/>
          </a:xfrm>
          <a:prstGeom prst="rect">
            <a:avLst/>
          </a:prstGeom>
          <a:solidFill>
            <a:srgbClr val="C24A4A"/>
          </a:solidFill>
          <a:ln w="12700">
            <a:solidFill>
              <a:srgbClr val="C24A4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16733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MODELED BASE RETURN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04088" y="2039112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C2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16.7%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704088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5-year gross sponsor IRR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25112" y="150876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25112" y="1508760"/>
            <a:ext cx="64008" cy="1874520"/>
          </a:xfrm>
          <a:prstGeom prst="rect">
            <a:avLst/>
          </a:prstGeom>
          <a:solidFill>
            <a:srgbClr val="12253F"/>
          </a:solidFill>
          <a:ln w="12700">
            <a:solidFill>
              <a:srgbClr val="12253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16733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REQUIREMENT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26280" y="2039112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25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20.0%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52628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investment hurdle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147304" y="150876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47304" y="1508760"/>
            <a:ext cx="64008" cy="1874520"/>
          </a:xfrm>
          <a:prstGeom prst="rect">
            <a:avLst/>
          </a:prstGeom>
          <a:solidFill>
            <a:srgbClr val="C24A4A"/>
          </a:solidFill>
          <a:ln w="12700">
            <a:solidFill>
              <a:srgbClr val="C24A4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48472" y="16733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TO HURDLE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348472" y="2039112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C2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−3.3 pp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8348472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25% acquisition premium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0352" y="3703320"/>
            <a:ext cx="11100816" cy="1572768"/>
          </a:xfrm>
          <a:prstGeom prst="roundRect">
            <a:avLst>
              <a:gd name="adj" fmla="val 6977"/>
            </a:avLst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3931920"/>
            <a:ext cx="7315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5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Investment committee verdict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77240" y="4279392"/>
            <a:ext cx="10469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0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$62.60 per share (25% premium), financing costs and exit risk outweigh the cash-flow quality. Revisit only at a lower entry price or with demonstrated incremental free cash flow.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0352" y="6163056"/>
            <a:ext cx="10789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H&amp;R Block FY2026 10-K; analyst scenario assumptions.</a:t>
            </a:r>
            <a:endParaRPr lang="en-US" sz="8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2253F"/>
          </a:solidFill>
          <a:ln w="12700">
            <a:solidFill>
              <a:srgbClr val="12253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0058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b="1" spc="160" kern="0" dirty="0">
                <a:solidFill>
                  <a:srgbClr val="D1A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EQUITY | INVESTMENT COMMITTEE</a:t>
            </a:r>
            <a:endParaRPr lang="en-US" sz="91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25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durable tax franchise—but not without substitution risk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261872"/>
            <a:ext cx="11201400" cy="0"/>
          </a:xfrm>
          <a:prstGeom prst="line">
            <a:avLst/>
          </a:prstGeom>
          <a:noFill/>
          <a:ln w="12700">
            <a:solidFill>
              <a:srgbClr val="DAE4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9224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H&amp;R BLOCK  •  22 OCT 2026  •  ILLUSTRATIVE / NOT AN OFFER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4712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12064" y="1508760"/>
            <a:ext cx="3502152" cy="1691640"/>
          </a:xfrm>
          <a:prstGeom prst="roundRect">
            <a:avLst>
              <a:gd name="adj" fmla="val 6486"/>
            </a:avLst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" y="1508760"/>
            <a:ext cx="64008" cy="1691640"/>
          </a:xfrm>
          <a:prstGeom prst="rect">
            <a:avLst/>
          </a:prstGeom>
          <a:solidFill>
            <a:srgbClr val="12253F"/>
          </a:solidFill>
          <a:ln w="12700">
            <a:solidFill>
              <a:srgbClr val="12253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673352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FY2026 REVENUE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3232" y="2039112"/>
            <a:ext cx="3227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25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$3.95bn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713232" y="2697480"/>
            <a:ext cx="3182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+4.9% year over year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25112" y="1508760"/>
            <a:ext cx="3502152" cy="1691640"/>
          </a:xfrm>
          <a:prstGeom prst="roundRect">
            <a:avLst>
              <a:gd name="adj" fmla="val 6486"/>
            </a:avLst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25112" y="1508760"/>
            <a:ext cx="64008" cy="1691640"/>
          </a:xfrm>
          <a:prstGeom prst="rect">
            <a:avLst/>
          </a:prstGeom>
          <a:solidFill>
            <a:srgbClr val="12253F"/>
          </a:solidFill>
          <a:ln w="12700">
            <a:solidFill>
              <a:srgbClr val="12253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1673352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FY2026 EBITDA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26280" y="2039112"/>
            <a:ext cx="3227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25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$1.06bn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526280" y="2697480"/>
            <a:ext cx="3182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Continuing operations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147304" y="1508760"/>
            <a:ext cx="3502152" cy="1691640"/>
          </a:xfrm>
          <a:prstGeom prst="roundRect">
            <a:avLst>
              <a:gd name="adj" fmla="val 6486"/>
            </a:avLst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47304" y="1508760"/>
            <a:ext cx="64008" cy="1691640"/>
          </a:xfrm>
          <a:prstGeom prst="rect">
            <a:avLst/>
          </a:prstGeom>
          <a:solidFill>
            <a:srgbClr val="12253F"/>
          </a:solidFill>
          <a:ln w="12700">
            <a:solidFill>
              <a:srgbClr val="12253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48472" y="1673352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FY2026 FCF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348472" y="2039112"/>
            <a:ext cx="3227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25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$756mm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8348472" y="2697480"/>
            <a:ext cx="3182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Cash from operations less capex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85216" y="3621024"/>
            <a:ext cx="91440" cy="91440"/>
          </a:xfrm>
          <a:prstGeom prst="rect">
            <a:avLst/>
          </a:prstGeom>
          <a:solidFill>
            <a:srgbClr val="00A6A0"/>
          </a:solidFill>
          <a:ln w="12700">
            <a:solidFill>
              <a:srgbClr val="00A6A0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3816" y="356616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25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Recurring compliance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13816" y="3867912"/>
            <a:ext cx="106984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Annual filings create habitual demand; complex customer needs support assisted tax preparation.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85216" y="4553712"/>
            <a:ext cx="91440" cy="91440"/>
          </a:xfrm>
          <a:prstGeom prst="rect">
            <a:avLst/>
          </a:prstGeom>
          <a:solidFill>
            <a:srgbClr val="00A6A0"/>
          </a:solidFill>
          <a:ln w="12700">
            <a:solidFill>
              <a:srgbClr val="00A6A0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3816" y="44988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25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reinvestment intensity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13816" y="4800600"/>
            <a:ext cx="106984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FY2026 capex of $82.6mm represented ~2.1% of reported revenue.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5216" y="5486400"/>
            <a:ext cx="91440" cy="91440"/>
          </a:xfrm>
          <a:prstGeom prst="rect">
            <a:avLst/>
          </a:prstGeom>
          <a:solidFill>
            <a:srgbClr val="00A6A0"/>
          </a:solidFill>
          <a:ln w="12700">
            <a:solidFill>
              <a:srgbClr val="00A6A0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3816" y="543153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25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tension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13816" y="5733288"/>
            <a:ext cx="106984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Assisted revenue growth can reflect better pricing and ownership mix even with flat total assisted volume.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0352" y="6163056"/>
            <a:ext cx="10789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H&amp;R Block FY2026 Form 10-K (filed Aug. 14, 2026).</a:t>
            </a:r>
            <a:endParaRPr lang="en-US" sz="8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2253F"/>
          </a:solidFill>
          <a:ln w="12700">
            <a:solidFill>
              <a:srgbClr val="12253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0058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b="1" spc="160" kern="0" dirty="0">
                <a:solidFill>
                  <a:srgbClr val="D1A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EQUITY | INVESTMENT COMMITTEE</a:t>
            </a:r>
            <a:endParaRPr lang="en-US" sz="91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25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Acquisition price and capital structure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261872"/>
            <a:ext cx="11201400" cy="0"/>
          </a:xfrm>
          <a:prstGeom prst="line">
            <a:avLst/>
          </a:prstGeom>
          <a:noFill/>
          <a:ln w="12700">
            <a:solidFill>
              <a:srgbClr val="DAE4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9224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H&amp;R BLOCK  •  22 OCT 2026  •  ILLUSTRATIVE / NOT AN OFFER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4712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1472184"/>
            <a:ext cx="3438144" cy="1472184"/>
          </a:xfrm>
          <a:prstGeom prst="roundRect">
            <a:avLst>
              <a:gd name="adj" fmla="val 7453"/>
            </a:avLst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472184"/>
            <a:ext cx="64008" cy="1472184"/>
          </a:xfrm>
          <a:prstGeom prst="rect">
            <a:avLst/>
          </a:prstGeom>
          <a:solidFill>
            <a:srgbClr val="12253F"/>
          </a:solidFill>
          <a:ln w="12700">
            <a:solidFill>
              <a:srgbClr val="12253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1636776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OFFER PRICE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04088" y="2002536"/>
            <a:ext cx="3163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25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$62.60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704088" y="2441448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25% above Oct. 22 close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70832" y="1472184"/>
            <a:ext cx="3438144" cy="1472184"/>
          </a:xfrm>
          <a:prstGeom prst="roundRect">
            <a:avLst>
              <a:gd name="adj" fmla="val 7453"/>
            </a:avLst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70832" y="1472184"/>
            <a:ext cx="64008" cy="1472184"/>
          </a:xfrm>
          <a:prstGeom prst="rect">
            <a:avLst/>
          </a:prstGeom>
          <a:solidFill>
            <a:srgbClr val="12253F"/>
          </a:solidFill>
          <a:ln w="12700">
            <a:solidFill>
              <a:srgbClr val="12253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1636776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VALUE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0" y="2002536"/>
            <a:ext cx="3163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25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$8.25bn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572000" y="2441448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7.81x FY2026 EBITDA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29600" y="1472184"/>
            <a:ext cx="3438144" cy="1472184"/>
          </a:xfrm>
          <a:prstGeom prst="roundRect">
            <a:avLst>
              <a:gd name="adj" fmla="val 7453"/>
            </a:avLst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0" y="1472184"/>
            <a:ext cx="64008" cy="1472184"/>
          </a:xfrm>
          <a:prstGeom prst="rect">
            <a:avLst/>
          </a:prstGeom>
          <a:solidFill>
            <a:srgbClr val="12253F"/>
          </a:solidFill>
          <a:ln w="12700">
            <a:solidFill>
              <a:srgbClr val="12253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30768" y="1636776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SPONSOR EQUITY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30768" y="2002536"/>
            <a:ext cx="3163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25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$4.21bn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8430768" y="2441448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42.4% of total uses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325526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225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Financing mix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548640" y="3767328"/>
            <a:ext cx="3490457" cy="749808"/>
          </a:xfrm>
          <a:prstGeom prst="rect">
            <a:avLst/>
          </a:prstGeom>
          <a:solidFill>
            <a:srgbClr val="12253F"/>
          </a:solidFill>
          <a:ln w="12700">
            <a:solidFill>
              <a:srgbClr val="12253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39097" y="3767328"/>
            <a:ext cx="1744678" cy="749808"/>
          </a:xfrm>
          <a:prstGeom prst="rect">
            <a:avLst/>
          </a:prstGeom>
          <a:solidFill>
            <a:srgbClr val="00A6A0"/>
          </a:solidFill>
          <a:ln w="12700">
            <a:solidFill>
              <a:srgbClr val="00A6A0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83776" y="3767328"/>
            <a:ext cx="4636331" cy="749808"/>
          </a:xfrm>
          <a:prstGeom prst="rect">
            <a:avLst/>
          </a:prstGeom>
          <a:solidFill>
            <a:srgbClr val="D1A558"/>
          </a:solidFill>
          <a:ln w="12700">
            <a:solidFill>
              <a:srgbClr val="D1A558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420107" y="3767328"/>
            <a:ext cx="1055613" cy="749808"/>
          </a:xfrm>
          <a:prstGeom prst="rect">
            <a:avLst/>
          </a:prstGeom>
          <a:solidFill>
            <a:srgbClr val="96AABD"/>
          </a:solidFill>
          <a:ln w="12700">
            <a:solidFill>
              <a:srgbClr val="96AABD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4773168"/>
            <a:ext cx="118872" cy="118872"/>
          </a:xfrm>
          <a:prstGeom prst="rect">
            <a:avLst/>
          </a:prstGeom>
          <a:solidFill>
            <a:srgbClr val="12253F"/>
          </a:solidFill>
          <a:ln w="12700">
            <a:solidFill>
              <a:srgbClr val="12253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" y="4690872"/>
            <a:ext cx="5074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0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 loan: $3.17bn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172200" y="4773168"/>
            <a:ext cx="118872" cy="118872"/>
          </a:xfrm>
          <a:prstGeom prst="rect">
            <a:avLst/>
          </a:prstGeom>
          <a:solidFill>
            <a:srgbClr val="00A6A0"/>
          </a:solidFill>
          <a:ln w="12700">
            <a:solidFill>
              <a:srgbClr val="00A6A0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64224" y="4690872"/>
            <a:ext cx="5074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0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Senior notes: $1.58bn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8640" y="5285232"/>
            <a:ext cx="118872" cy="118872"/>
          </a:xfrm>
          <a:prstGeom prst="rect">
            <a:avLst/>
          </a:prstGeom>
          <a:solidFill>
            <a:srgbClr val="D1A558"/>
          </a:solidFill>
          <a:ln w="12700">
            <a:solidFill>
              <a:srgbClr val="D1A558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0664" y="5202936"/>
            <a:ext cx="5074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0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Sponsor equity: $4.21bn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172200" y="5285232"/>
            <a:ext cx="118872" cy="118872"/>
          </a:xfrm>
          <a:prstGeom prst="rect">
            <a:avLst/>
          </a:prstGeom>
          <a:solidFill>
            <a:srgbClr val="96AABD"/>
          </a:solidFill>
          <a:ln w="12700">
            <a:solidFill>
              <a:srgbClr val="96AABD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64224" y="5202936"/>
            <a:ext cx="5074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0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Acquired cash: $0.96bn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30352" y="6163056"/>
            <a:ext cx="10789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Offer, debt sizing, fees and transaction terms are hypothetical. Sources/uses in linked Excel.</a:t>
            </a:r>
            <a:endParaRPr lang="en-US" sz="8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2253F"/>
          </a:solidFill>
          <a:ln w="12700">
            <a:solidFill>
              <a:srgbClr val="12253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0058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b="1" spc="160" kern="0" dirty="0">
                <a:solidFill>
                  <a:srgbClr val="D1A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EQUITY | INVESTMENT COMMITTEE</a:t>
            </a:r>
            <a:endParaRPr lang="en-US" sz="91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25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plan: 4% revenue growth and gradual margin gain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261872"/>
            <a:ext cx="11201400" cy="0"/>
          </a:xfrm>
          <a:prstGeom prst="line">
            <a:avLst/>
          </a:prstGeom>
          <a:noFill/>
          <a:ln w="12700">
            <a:solidFill>
              <a:srgbClr val="DAE4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9224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H&amp;R BLOCK  •  22 OCT 2026  •  ILLUSTRATIVE / NOT AN OFFER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4712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7512" y="1545336"/>
            <a:ext cx="5120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5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EBITDA ($mm)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0" y="1545336"/>
            <a:ext cx="5029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5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Funded debt ($mm)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85800" y="2020824"/>
            <a:ext cx="1005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2027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664208" y="2066544"/>
            <a:ext cx="3140964" cy="310896"/>
          </a:xfrm>
          <a:prstGeom prst="rect">
            <a:avLst/>
          </a:prstGeom>
          <a:solidFill>
            <a:srgbClr val="00A6A0"/>
          </a:solidFill>
          <a:ln w="12700">
            <a:solidFill>
              <a:srgbClr val="00A6A0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06440" y="2020824"/>
            <a:ext cx="4389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25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1,125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0" y="2020824"/>
            <a:ext cx="91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2027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70064" y="2066544"/>
            <a:ext cx="3072640" cy="310896"/>
          </a:xfrm>
          <a:prstGeom prst="rect">
            <a:avLst/>
          </a:prstGeom>
          <a:solidFill>
            <a:srgbClr val="12253F"/>
          </a:solidFill>
          <a:ln w="12700">
            <a:solidFill>
              <a:srgbClr val="12253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0" y="2020824"/>
            <a:ext cx="457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25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4,364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2715768"/>
            <a:ext cx="1005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2028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664208" y="2761488"/>
            <a:ext cx="3302898" cy="310896"/>
          </a:xfrm>
          <a:prstGeom prst="rect">
            <a:avLst/>
          </a:prstGeom>
          <a:solidFill>
            <a:srgbClr val="00A6A0"/>
          </a:solidFill>
          <a:ln w="12700">
            <a:solidFill>
              <a:srgbClr val="00A6A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06440" y="2715768"/>
            <a:ext cx="4389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25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1,183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0" y="2715768"/>
            <a:ext cx="91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2028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70064" y="2761488"/>
            <a:ext cx="2757913" cy="310896"/>
          </a:xfrm>
          <a:prstGeom prst="rect">
            <a:avLst/>
          </a:prstGeom>
          <a:solidFill>
            <a:srgbClr val="12253F"/>
          </a:solidFill>
          <a:ln w="12700">
            <a:solidFill>
              <a:srgbClr val="12253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0" y="2715768"/>
            <a:ext cx="457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25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3,917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3410712"/>
            <a:ext cx="1005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2029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664208" y="3456432"/>
            <a:ext cx="3470416" cy="310896"/>
          </a:xfrm>
          <a:prstGeom prst="rect">
            <a:avLst/>
          </a:prstGeom>
          <a:solidFill>
            <a:srgbClr val="00A6A0"/>
          </a:solidFill>
          <a:ln w="12700">
            <a:solidFill>
              <a:srgbClr val="00A6A0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06440" y="3410712"/>
            <a:ext cx="4389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25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1,243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0" y="3410712"/>
            <a:ext cx="91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2029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370064" y="3456432"/>
            <a:ext cx="2401644" cy="310896"/>
          </a:xfrm>
          <a:prstGeom prst="rect">
            <a:avLst/>
          </a:prstGeom>
          <a:solidFill>
            <a:srgbClr val="12253F"/>
          </a:solidFill>
          <a:ln w="12700">
            <a:solidFill>
              <a:srgbClr val="12253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972800" y="3410712"/>
            <a:ext cx="457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25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3,411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5800" y="4105656"/>
            <a:ext cx="1005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2030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664208" y="4151376"/>
            <a:ext cx="3635142" cy="310896"/>
          </a:xfrm>
          <a:prstGeom prst="rect">
            <a:avLst/>
          </a:prstGeom>
          <a:solidFill>
            <a:srgbClr val="00A6A0"/>
          </a:solidFill>
          <a:ln w="12700">
            <a:solidFill>
              <a:srgbClr val="00A6A0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06440" y="4105656"/>
            <a:ext cx="4389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25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1,302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0" y="4105656"/>
            <a:ext cx="91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2030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370064" y="4151376"/>
            <a:ext cx="2003130" cy="310896"/>
          </a:xfrm>
          <a:prstGeom prst="rect">
            <a:avLst/>
          </a:prstGeom>
          <a:solidFill>
            <a:srgbClr val="12253F"/>
          </a:solidFill>
          <a:ln w="12700">
            <a:solidFill>
              <a:srgbClr val="12253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972800" y="4105656"/>
            <a:ext cx="457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25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2,845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85800" y="4800600"/>
            <a:ext cx="1005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2031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1664208" y="4846320"/>
            <a:ext cx="3808244" cy="310896"/>
          </a:xfrm>
          <a:prstGeom prst="rect">
            <a:avLst/>
          </a:prstGeom>
          <a:solidFill>
            <a:srgbClr val="00A6A0"/>
          </a:solidFill>
          <a:ln w="12700">
            <a:solidFill>
              <a:srgbClr val="00A6A0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06440" y="4800600"/>
            <a:ext cx="4389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25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1,364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00800" y="4800600"/>
            <a:ext cx="91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2031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370064" y="4846320"/>
            <a:ext cx="1558147" cy="310896"/>
          </a:xfrm>
          <a:prstGeom prst="rect">
            <a:avLst/>
          </a:prstGeom>
          <a:solidFill>
            <a:srgbClr val="12253F"/>
          </a:solidFill>
          <a:ln w="12700">
            <a:solidFill>
              <a:srgbClr val="12253F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972800" y="4800600"/>
            <a:ext cx="457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25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2,213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21792" y="5596128"/>
            <a:ext cx="10917936" cy="356616"/>
          </a:xfrm>
          <a:prstGeom prst="roundRect">
            <a:avLst>
              <a:gd name="adj" fmla="val 30769"/>
            </a:avLst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0392" y="5632704"/>
            <a:ext cx="10515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0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2031 base: $4.84bn sales  •  28.2% EBITDA margin  •  $1.10bn year-end modeled cash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30352" y="6163056"/>
            <a:ext cx="10789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FY2027 base uses H&amp;R Block FY2027 guidance midpoint; FY2028–2031 are analyst assumptions.</a:t>
            </a:r>
            <a:endParaRPr lang="en-US" sz="8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2253F"/>
          </a:solidFill>
          <a:ln w="12700">
            <a:solidFill>
              <a:srgbClr val="12253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0058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b="1" spc="160" kern="0" dirty="0">
                <a:solidFill>
                  <a:srgbClr val="D1A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EQUITY | INVESTMENT COMMITTEE</a:t>
            </a:r>
            <a:endParaRPr lang="en-US" sz="91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25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Equity creation depends on earnings growth and deleveraging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261872"/>
            <a:ext cx="11201400" cy="0"/>
          </a:xfrm>
          <a:prstGeom prst="line">
            <a:avLst/>
          </a:prstGeom>
          <a:noFill/>
          <a:ln w="12700">
            <a:solidFill>
              <a:srgbClr val="DAE4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9224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H&amp;R BLOCK  •  22 OCT 2026  •  ILLUSTRATIVE / NOT AN OFFER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4712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12064" y="1499616"/>
            <a:ext cx="3493008" cy="1600200"/>
          </a:xfrm>
          <a:prstGeom prst="roundRect">
            <a:avLst>
              <a:gd name="adj" fmla="val 6857"/>
            </a:avLst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" y="1499616"/>
            <a:ext cx="64008" cy="1600200"/>
          </a:xfrm>
          <a:prstGeom prst="rect">
            <a:avLst/>
          </a:prstGeom>
          <a:solidFill>
            <a:srgbClr val="12253F"/>
          </a:solidFill>
          <a:ln w="12700">
            <a:solidFill>
              <a:srgbClr val="12253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664208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2031 EXIT EBITDA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3232" y="2029968"/>
            <a:ext cx="3218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25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$1.36bn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713232" y="2596896"/>
            <a:ext cx="3172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7.5x EV / EBITDA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43400" y="1499616"/>
            <a:ext cx="3493008" cy="1600200"/>
          </a:xfrm>
          <a:prstGeom prst="roundRect">
            <a:avLst>
              <a:gd name="adj" fmla="val 6857"/>
            </a:avLst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43400" y="1499616"/>
            <a:ext cx="64008" cy="1600200"/>
          </a:xfrm>
          <a:prstGeom prst="rect">
            <a:avLst/>
          </a:prstGeom>
          <a:solidFill>
            <a:srgbClr val="12253F"/>
          </a:solidFill>
          <a:ln w="12700">
            <a:solidFill>
              <a:srgbClr val="12253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44568" y="1664208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ENTERPRISE VALUE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44568" y="2029968"/>
            <a:ext cx="3218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25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$10.23bn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544568" y="2596896"/>
            <a:ext cx="3172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case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174736" y="1499616"/>
            <a:ext cx="3493008" cy="1600200"/>
          </a:xfrm>
          <a:prstGeom prst="roundRect">
            <a:avLst>
              <a:gd name="adj" fmla="val 6857"/>
            </a:avLst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74736" y="1499616"/>
            <a:ext cx="64008" cy="1600200"/>
          </a:xfrm>
          <a:prstGeom prst="rect">
            <a:avLst/>
          </a:prstGeom>
          <a:solidFill>
            <a:srgbClr val="12253F"/>
          </a:solidFill>
          <a:ln w="12700">
            <a:solidFill>
              <a:srgbClr val="12253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75904" y="1664208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SPONSOR PROCEEDS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375904" y="2029968"/>
            <a:ext cx="3218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25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$9.11bn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8375904" y="2596896"/>
            <a:ext cx="3172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EV − debt + cash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3474720"/>
            <a:ext cx="10881360" cy="429768"/>
          </a:xfrm>
          <a:prstGeom prst="roundRect">
            <a:avLst>
              <a:gd name="adj" fmla="val 25532"/>
            </a:avLst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" y="3474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enterprise value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400032" y="3474720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225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$10,231mm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" y="3922776"/>
            <a:ext cx="10881360" cy="429768"/>
          </a:xfrm>
          <a:prstGeom prst="roundRect">
            <a:avLst>
              <a:gd name="adj" fmla="val 25532"/>
            </a:avLst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" y="3922776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Less: remaining gross debt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400032" y="3922776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225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($2,213mm)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0080" y="4370832"/>
            <a:ext cx="10881360" cy="429768"/>
          </a:xfrm>
          <a:prstGeom prst="roundRect">
            <a:avLst>
              <a:gd name="adj" fmla="val 25532"/>
            </a:avLst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43708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Add: accumulated cash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400032" y="4370832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225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+$1,096mm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40080" y="4818888"/>
            <a:ext cx="10881360" cy="429768"/>
          </a:xfrm>
          <a:prstGeom prst="roundRect">
            <a:avLst>
              <a:gd name="adj" fmla="val 25532"/>
            </a:avLst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1248" y="481888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Gross sponsor equity proceeds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400032" y="4818888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225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$9,114mm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40080" y="5266944"/>
            <a:ext cx="10881360" cy="429768"/>
          </a:xfrm>
          <a:prstGeom prst="roundRect">
            <a:avLst>
              <a:gd name="adj" fmla="val 25532"/>
            </a:avLst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" y="526694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Less: sponsor invested capital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400032" y="5266944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225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($4,212mm)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30352" y="6163056"/>
            <a:ext cx="10789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Cash retained after debt sweep is included in exit proceeds; seasonality and cash availability require diligence.</a:t>
            </a:r>
            <a:endParaRPr lang="en-US" sz="8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2253F"/>
          </a:solidFill>
          <a:ln w="12700">
            <a:solidFill>
              <a:srgbClr val="12253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0058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b="1" spc="160" kern="0" dirty="0">
                <a:solidFill>
                  <a:srgbClr val="D1A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EQUITY | INVESTMENT COMMITTEE</a:t>
            </a:r>
            <a:endParaRPr lang="en-US" sz="91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25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distribution: strong dispersion at the same entry price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261872"/>
            <a:ext cx="11201400" cy="0"/>
          </a:xfrm>
          <a:prstGeom prst="line">
            <a:avLst/>
          </a:prstGeom>
          <a:noFill/>
          <a:ln w="12700">
            <a:solidFill>
              <a:srgbClr val="DAE4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9224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H&amp;R BLOCK  •  22 OCT 2026  •  ILLUSTRATIVE / NOT AN OFFER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4712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169164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DOWNSIDE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624328" y="1700784"/>
            <a:ext cx="463601" cy="512064"/>
          </a:xfrm>
          <a:prstGeom prst="rect">
            <a:avLst/>
          </a:prstGeom>
          <a:solidFill>
            <a:srgbClr val="C24A4A"/>
          </a:solidFill>
          <a:ln w="12700">
            <a:solidFill>
              <a:srgbClr val="C24A4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61320" y="1682496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C2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1.8%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2651760" y="2313432"/>
            <a:ext cx="5486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1.09x gross MOIC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3044952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624328" y="3054096"/>
            <a:ext cx="4301185" cy="512064"/>
          </a:xfrm>
          <a:prstGeom prst="rect">
            <a:avLst/>
          </a:prstGeom>
          <a:solidFill>
            <a:srgbClr val="12253F"/>
          </a:solidFill>
          <a:ln w="12700">
            <a:solidFill>
              <a:srgbClr val="12253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61320" y="3035808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1225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16.7%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2651760" y="3666744"/>
            <a:ext cx="5486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2.16x gross MOIC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" y="4398264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UPSIDE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624328" y="4407408"/>
            <a:ext cx="6850990" cy="512064"/>
          </a:xfrm>
          <a:prstGeom prst="rect">
            <a:avLst/>
          </a:prstGeom>
          <a:solidFill>
            <a:srgbClr val="00A6A0"/>
          </a:solidFill>
          <a:ln w="12700">
            <a:solidFill>
              <a:srgbClr val="00A6A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61320" y="4389120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00A6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26.6%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2651760" y="5020056"/>
            <a:ext cx="5486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3.25x gross MOIC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8368" y="5769864"/>
            <a:ext cx="10835640" cy="329184"/>
          </a:xfrm>
          <a:prstGeom prst="roundRect">
            <a:avLst>
              <a:gd name="adj" fmla="val 33333"/>
            </a:avLst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" y="5815584"/>
            <a:ext cx="9875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0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exit multiples: 6.0x downside • 7.5x base • 9.0x upside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0352" y="6163056"/>
            <a:ext cx="10789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outputs from linked five-year LBO workbook.</a:t>
            </a:r>
            <a:endParaRPr lang="en-US" sz="8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2253F"/>
          </a:solidFill>
          <a:ln w="12700">
            <a:solidFill>
              <a:srgbClr val="12253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0058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b="1" spc="160" kern="0" dirty="0">
                <a:solidFill>
                  <a:srgbClr val="D1A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EQUITY | INVESTMENT COMMITTEE</a:t>
            </a:r>
            <a:endParaRPr lang="en-US" sz="91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25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Entry discipline matters more than a good narrative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261872"/>
            <a:ext cx="11201400" cy="0"/>
          </a:xfrm>
          <a:prstGeom prst="line">
            <a:avLst/>
          </a:prstGeom>
          <a:noFill/>
          <a:ln w="12700">
            <a:solidFill>
              <a:srgbClr val="DAE4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9224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H&amp;R BLOCK  •  22 OCT 2026  •  ILLUSTRATIVE / NOT AN OFFER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4712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23544" y="159105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5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Acquisition equity premium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406640" y="159105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5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Base-model gross IRR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13232" y="2075688"/>
            <a:ext cx="10716768" cy="512064"/>
          </a:xfrm>
          <a:prstGeom prst="roundRect">
            <a:avLst>
              <a:gd name="adj" fmla="val 21429"/>
            </a:avLst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2103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225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534656" y="21031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478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22.7%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13232" y="2679192"/>
            <a:ext cx="10716768" cy="512064"/>
          </a:xfrm>
          <a:prstGeom prst="roundRect">
            <a:avLst>
              <a:gd name="adj" fmla="val 21429"/>
            </a:avLst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270662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225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15%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534656" y="270662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478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20.5%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13232" y="3282696"/>
            <a:ext cx="10716768" cy="512064"/>
          </a:xfrm>
          <a:prstGeom prst="roundRect">
            <a:avLst>
              <a:gd name="adj" fmla="val 21429"/>
            </a:avLst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976" y="33101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225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20%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534656" y="33101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C2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18.5%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13232" y="3886200"/>
            <a:ext cx="10716768" cy="512064"/>
          </a:xfrm>
          <a:prstGeom prst="roundRect">
            <a:avLst>
              <a:gd name="adj" fmla="val 21429"/>
            </a:avLst>
          </a:prstGeom>
          <a:solidFill>
            <a:srgbClr val="DFEBF6"/>
          </a:solidFill>
          <a:ln w="12700">
            <a:solidFill>
              <a:srgbClr val="DFEBF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" y="39136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5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25%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534656" y="391363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C2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16.7%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713232" y="4489704"/>
            <a:ext cx="10716768" cy="512064"/>
          </a:xfrm>
          <a:prstGeom prst="roundRect">
            <a:avLst>
              <a:gd name="adj" fmla="val 21429"/>
            </a:avLst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0976" y="451713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225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30%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534656" y="451713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C2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15.0%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749808" y="5559552"/>
            <a:ext cx="10643616" cy="374904"/>
          </a:xfrm>
          <a:prstGeom prst="roundRect">
            <a:avLst>
              <a:gd name="adj" fmla="val 29268"/>
            </a:avLst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" y="559612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0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~16.5% premium required to clear 20% base IRR, all else held constant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0352" y="6163056"/>
            <a:ext cx="10789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Sensitivity isolates offer price; same FY2031 base operations and modeled debt paydown.</a:t>
            </a:r>
            <a:endParaRPr lang="en-US" sz="8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2253F"/>
          </a:solidFill>
          <a:ln w="12700">
            <a:solidFill>
              <a:srgbClr val="12253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0058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b="1" spc="160" kern="0" dirty="0">
                <a:solidFill>
                  <a:srgbClr val="D1A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EQUITY | INVESTMENT COMMITTEE</a:t>
            </a:r>
            <a:endParaRPr lang="en-US" sz="91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25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that could break the model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261872"/>
            <a:ext cx="11201400" cy="0"/>
          </a:xfrm>
          <a:prstGeom prst="line">
            <a:avLst/>
          </a:prstGeom>
          <a:noFill/>
          <a:ln w="12700">
            <a:solidFill>
              <a:srgbClr val="DAE4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9224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H&amp;R BLOCK  •  22 OCT 2026  •  ILLUSTRATIVE / NOT AN OFFER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4712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66928" y="1627632"/>
            <a:ext cx="5458968" cy="1627632"/>
          </a:xfrm>
          <a:prstGeom prst="roundRect">
            <a:avLst>
              <a:gd name="adj" fmla="val 6742"/>
            </a:avLst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627632"/>
            <a:ext cx="64008" cy="1627632"/>
          </a:xfrm>
          <a:prstGeom prst="rect">
            <a:avLst/>
          </a:prstGeom>
          <a:solidFill>
            <a:srgbClr val="C24A4A"/>
          </a:solidFill>
          <a:ln w="12700">
            <a:solidFill>
              <a:srgbClr val="C24A4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856232"/>
            <a:ext cx="4892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25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TAX-SEASON LIQUIDITY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2340864"/>
            <a:ext cx="487375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February–April receipts dominate annual cash flow; monthly revolving-credit needs are omitted.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7648" y="1627632"/>
            <a:ext cx="5458968" cy="1627632"/>
          </a:xfrm>
          <a:prstGeom prst="roundRect">
            <a:avLst>
              <a:gd name="adj" fmla="val 6742"/>
            </a:avLst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27648" y="1627632"/>
            <a:ext cx="64008" cy="1627632"/>
          </a:xfrm>
          <a:prstGeom prst="rect">
            <a:avLst/>
          </a:prstGeom>
          <a:solidFill>
            <a:srgbClr val="12253F"/>
          </a:solidFill>
          <a:ln w="12700">
            <a:solidFill>
              <a:srgbClr val="12253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856232"/>
            <a:ext cx="4892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25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&amp; PRICE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83680" y="2340864"/>
            <a:ext cx="487375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DIY alternatives, price elasticity and generative AI could weaken assisted retention and profitability.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493008"/>
            <a:ext cx="5458968" cy="1627632"/>
          </a:xfrm>
          <a:prstGeom prst="roundRect">
            <a:avLst>
              <a:gd name="adj" fmla="val 6742"/>
            </a:avLst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3493008"/>
            <a:ext cx="64008" cy="1627632"/>
          </a:xfrm>
          <a:prstGeom prst="rect">
            <a:avLst/>
          </a:prstGeom>
          <a:solidFill>
            <a:srgbClr val="12253F"/>
          </a:solidFill>
          <a:ln w="12700">
            <a:solidFill>
              <a:srgbClr val="12253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721608"/>
            <a:ext cx="4892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25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CAPITAL MARKETS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4206240"/>
            <a:ext cx="487375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8.5% first-lien / 9.5% notes are assumed, not bank commitments; covenants and tax shields are untested.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27648" y="3493008"/>
            <a:ext cx="5458968" cy="1627632"/>
          </a:xfrm>
          <a:prstGeom prst="roundRect">
            <a:avLst>
              <a:gd name="adj" fmla="val 6742"/>
            </a:avLst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27648" y="3493008"/>
            <a:ext cx="64008" cy="1627632"/>
          </a:xfrm>
          <a:prstGeom prst="rect">
            <a:avLst/>
          </a:prstGeom>
          <a:solidFill>
            <a:srgbClr val="12253F"/>
          </a:solidFill>
          <a:ln w="12700">
            <a:solidFill>
              <a:srgbClr val="12253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3721608"/>
            <a:ext cx="4892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25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CASH &amp; LEGAL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83680" y="4206240"/>
            <a:ext cx="487375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$959mm June cash includes foreign balances; refinancing, legal exposures, and cash accessibility require review.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0352" y="6163056"/>
            <a:ext cx="10789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Tax season liquidity, real terms, and share dilution are deal-breaker diligence items.</a:t>
            </a:r>
            <a:endParaRPr lang="en-US" sz="8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2253F"/>
          </a:solidFill>
          <a:ln w="12700">
            <a:solidFill>
              <a:srgbClr val="12253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0058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b="1" spc="160" kern="0" dirty="0">
                <a:solidFill>
                  <a:srgbClr val="D1A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EQUITY | INVESTMENT COMMITTEE</a:t>
            </a:r>
            <a:endParaRPr lang="en-US" sz="91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25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recommendation: pass—and retain the target on a watchlist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261872"/>
            <a:ext cx="11201400" cy="0"/>
          </a:xfrm>
          <a:prstGeom prst="line">
            <a:avLst/>
          </a:prstGeom>
          <a:noFill/>
          <a:ln w="12700">
            <a:solidFill>
              <a:srgbClr val="DAE4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9224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H&amp;R BLOCK  •  22 OCT 2026  •  ILLUSTRATIVE / NOT AN OFFER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4712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57784" y="1563624"/>
            <a:ext cx="10963656" cy="1325880"/>
          </a:xfrm>
          <a:prstGeom prst="roundRect">
            <a:avLst>
              <a:gd name="adj" fmla="val 8276"/>
            </a:avLst>
          </a:prstGeom>
          <a:solidFill>
            <a:srgbClr val="12253F"/>
          </a:solidFill>
          <a:ln w="12700">
            <a:solidFill>
              <a:srgbClr val="12253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810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 AT 25% PREMIUM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585216" y="3383280"/>
            <a:ext cx="91440" cy="91440"/>
          </a:xfrm>
          <a:prstGeom prst="rect">
            <a:avLst/>
          </a:prstGeom>
          <a:solidFill>
            <a:srgbClr val="00A6A0"/>
          </a:solidFill>
          <a:ln w="12700">
            <a:solidFill>
              <a:srgbClr val="00A6A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816" y="332841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25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asset ≠ quality buyout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3816" y="3630168"/>
            <a:ext cx="106984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$8.25bn entry EV and 4.5x funded leverage, the base case earns only 16.7%.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5216" y="4251960"/>
            <a:ext cx="91440" cy="91440"/>
          </a:xfrm>
          <a:prstGeom prst="rect">
            <a:avLst/>
          </a:prstGeom>
          <a:solidFill>
            <a:srgbClr val="00A6A0"/>
          </a:solidFill>
          <a:ln w="12700">
            <a:solidFill>
              <a:srgbClr val="00A6A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" y="419709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25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Reopen if one of three conditions changes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3816" y="4498848"/>
            <a:ext cx="106984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price (~16.5% premium), independently verified higher cash flow, or a demonstrably more attractive financing structure.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5216" y="5111496"/>
            <a:ext cx="91440" cy="91440"/>
          </a:xfrm>
          <a:prstGeom prst="rect">
            <a:avLst/>
          </a:prstGeom>
          <a:solidFill>
            <a:srgbClr val="00A6A0"/>
          </a:solidFill>
          <a:ln w="12700">
            <a:solidFill>
              <a:srgbClr val="00A6A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" y="505663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25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Case-study diligence discipline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3816" y="5358384"/>
            <a:ext cx="106984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Underwrite annualized sponsor returns, cash seasonality, lender terms and downside recovery—not just EBITDA growth.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0352" y="6163056"/>
            <a:ext cx="10789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3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SEC FY2026 10-K; Aug. 2026 FY2027 guidance; Oct. 22 stock close; all exit/financing projections illustrative.</a:t>
            </a:r>
            <a:endParaRPr lang="en-US" sz="8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H&amp;R Block | Private Equity Investment Committee</dc:title>
  <dc:subject>Illustrative H&amp;R Block public to private LBO</dc:subject>
  <dc:creator>Investment Research Case Study</dc:creator>
  <cp:lastModifiedBy>Investment Research Case Study</cp:lastModifiedBy>
  <cp:revision>1</cp:revision>
  <dcterms:created xsi:type="dcterms:W3CDTF">2026-10-23T19:08:20Z</dcterms:created>
  <dcterms:modified xsi:type="dcterms:W3CDTF">2026-10-23T19:08:20Z</dcterms:modified>
</cp:coreProperties>
</file>